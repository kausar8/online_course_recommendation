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70" r:id="rId10"/>
    <p:sldId id="263" r:id="rId11"/>
    <p:sldId id="268" r:id="rId12"/>
    <p:sldId id="269" r:id="rId13"/>
    <p:sldId id="264" r:id="rId14"/>
    <p:sldId id="271" r:id="rId15"/>
    <p:sldId id="265" r:id="rId16"/>
    <p:sldId id="266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5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3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1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8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6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03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6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0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0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90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22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34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93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60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0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64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2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5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Online Course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-5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D4AFA2-9DD3-5004-2025-92B80887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Table of Contents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089FF2-07AC-9B28-0C10-2A8937D0D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2166258"/>
            <a:ext cx="8011885" cy="4865914"/>
          </a:xfrm>
        </p:spPr>
        <p:txBody>
          <a:bodyPr numCol="2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METHOD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OPTIMISATION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 FEATURES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460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5" y="2489199"/>
            <a:ext cx="8066314" cy="3944257"/>
          </a:xfrm>
        </p:spPr>
        <p:txBody>
          <a:bodyPr>
            <a:noAutofit/>
          </a:bodyPr>
          <a:lstStyle/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Learners struggle to find the right courses due to information overload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Provide personalized course recommendations based on user similarity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User-Based Collaborative Filtering +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2489200"/>
            <a:ext cx="7957457" cy="3530600"/>
          </a:xfrm>
        </p:spPr>
        <p:txBody>
          <a:bodyPr>
            <a:no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online_course_recommendation_v2.xlsx</a:t>
            </a: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 user_id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instructor, rating (1–5),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offered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study_material_available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difficulty_level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course_duration_hours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for collaborative filtering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9" y="2489200"/>
            <a:ext cx="8044541" cy="3530600"/>
          </a:xfrm>
        </p:spPr>
        <p:txBody>
          <a:bodyPr>
            <a:noAutofit/>
          </a:bodyPr>
          <a:lstStyle/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Dropped irrelevant columns for training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values: Yes/No → Binary, Difficulty → Ordinal encoding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'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column (rating ≥ 4 = 1, else 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171" y="2489200"/>
            <a:ext cx="8044543" cy="4140200"/>
          </a:xfrm>
        </p:spPr>
        <p:txBody>
          <a:bodyPr>
            <a:no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User-Based Collaborative Filtering steps:</a:t>
            </a: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Build user-course rating matrix</a:t>
            </a: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Compute cosine similarity between users</a:t>
            </a: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Find top-N similar users</a:t>
            </a: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Recommend courses highly rated by similar users</a:t>
            </a:r>
          </a:p>
          <a:p>
            <a:pPr>
              <a:defRPr sz="1400"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Predicted Rating = Σ(similarity × rating) / Σ(similarity)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4" y="2489200"/>
            <a:ext cx="8098972" cy="3530600"/>
          </a:xfrm>
        </p:spPr>
        <p:txBody>
          <a:bodyPr>
            <a:normAutofit/>
          </a:bodyPr>
          <a:lstStyle/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to active users (≥ 5 ratings) to reduce sparsity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sparse matrix optimizations to prevent memory overload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top-N recommendations for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943" y="2489200"/>
            <a:ext cx="8000999" cy="3530600"/>
          </a:xfrm>
        </p:spPr>
        <p:txBody>
          <a:bodyPr>
            <a:normAutofit/>
          </a:bodyPr>
          <a:lstStyle/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Sidebar user selection &amp; recommendations count slider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 styling for recommendation cards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Displays: 📘 Course Name, 👨‍🏫 Instructor, ⭐ Predicted Rating, ⏱️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78476-A9EB-9317-DA97-8EA49145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4032-A2E1-923A-0BD1-89BD909CC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AB56555-2D70-05B2-2A64-FC0CD4553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66057" y="2489199"/>
            <a:ext cx="8001000" cy="4107543"/>
          </a:xfrm>
        </p:spPr>
      </p:pic>
    </p:spTree>
    <p:extLst>
      <p:ext uri="{BB962C8B-B14F-4D97-AF65-F5344CB8AC3E}">
        <p14:creationId xmlns:p14="http://schemas.microsoft.com/office/powerpoint/2010/main" val="32824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7B41946-7AB4-1ADE-C45E-AD7D3600E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057" y="2489199"/>
            <a:ext cx="8001000" cy="410754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C700-FA87-CF63-0DB1-D32FFCB5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B150-FAF4-FB48-58FD-82714F2E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F60B22A-FD91-0005-B214-45332E744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66057" y="2489199"/>
            <a:ext cx="8001000" cy="4107543"/>
          </a:xfrm>
        </p:spPr>
      </p:pic>
    </p:spTree>
    <p:extLst>
      <p:ext uri="{BB962C8B-B14F-4D97-AF65-F5344CB8AC3E}">
        <p14:creationId xmlns:p14="http://schemas.microsoft.com/office/powerpoint/2010/main" val="1245160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C7F4-10EF-E4A2-4564-52854EE6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F4DC-B2C3-0A45-D718-631B16BB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B258A49-8265-E104-0D47-B50A60D72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66057" y="2489199"/>
            <a:ext cx="8001000" cy="4107543"/>
          </a:xfrm>
        </p:spPr>
      </p:pic>
    </p:spTree>
    <p:extLst>
      <p:ext uri="{BB962C8B-B14F-4D97-AF65-F5344CB8AC3E}">
        <p14:creationId xmlns:p14="http://schemas.microsoft.com/office/powerpoint/2010/main" val="363518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943" y="2489200"/>
            <a:ext cx="8022771" cy="3530600"/>
          </a:xfrm>
        </p:spPr>
        <p:txBody>
          <a:bodyPr>
            <a:normAutofit/>
          </a:bodyPr>
          <a:lstStyle/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improve learner engagement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interactive interface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to large datasets with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7860-EDB8-3589-3B1E-437DFB09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AE889-021D-8345-9BA4-ED9BAAAE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526845-B260-EC73-DD55-3979330635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8343" y="2068933"/>
            <a:ext cx="843642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Sparsity: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users rated only a few courses → sparse user-course matrix, harder to find strong similarities.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Cold Start Problem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users with no ratings or new courses with no reviews cannot be recommended effectively.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Limitations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similarity matrix computation for thousands of users can be resource-intensive.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dataset size slows down similarity calculations without optimizations.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in Recommendations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popular courses tend to dominate, reducing diversity in suggestions.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Context Awareness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are based only on ratings, ignoring user goals or session behavior.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082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5" y="2489200"/>
            <a:ext cx="8120742" cy="3530600"/>
          </a:xfrm>
        </p:spPr>
        <p:txBody>
          <a:bodyPr>
            <a:noAutofit/>
          </a:bodyPr>
          <a:lstStyle/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content-based filtering for cold-start users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feedback loop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session-based recommendations</a:t>
            </a:r>
          </a:p>
          <a:p>
            <a:pPr>
              <a:defRPr sz="1400"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UI with animations, tabs, sorting options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E6A0C5-8940-C210-92BD-9AC38FA1DA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6263" y="2177008"/>
            <a:ext cx="814319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end-to-end pipeline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 lit deployment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User-Based Collaborative Filtering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course recommendations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clear course details: title, instructor, predicted rating, and duration.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user filtering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sparse matrix handling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improved performance.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e-learning platforms to enhance learner engagement.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13DEE4-A1FB-5C98-14CB-3A1B3A153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440" y="1399189"/>
            <a:ext cx="5490817" cy="2550877"/>
          </a:xfrm>
        </p:spPr>
        <p:txBody>
          <a:bodyPr/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167F1EF-EB76-0EE7-AD4C-B337266B6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8208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55</TotalTime>
  <Words>493</Words>
  <Application>Microsoft Office PowerPoint</Application>
  <PresentationFormat>On-screen Show (4:3)</PresentationFormat>
  <Paragraphs>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Times New Roman</vt:lpstr>
      <vt:lpstr>Wingdings</vt:lpstr>
      <vt:lpstr>Wingdings 3</vt:lpstr>
      <vt:lpstr>Ion Boardroom</vt:lpstr>
      <vt:lpstr>Online Course Recommendation System</vt:lpstr>
      <vt:lpstr> Table of Contents</vt:lpstr>
      <vt:lpstr>Introduction</vt:lpstr>
      <vt:lpstr>Dataset Overview</vt:lpstr>
      <vt:lpstr>Data Preprocessing</vt:lpstr>
      <vt:lpstr>Recommendation Method</vt:lpstr>
      <vt:lpstr>Model Optimization</vt:lpstr>
      <vt:lpstr>Streamlit App Features</vt:lpstr>
      <vt:lpstr>RESULT</vt:lpstr>
      <vt:lpstr>RESULT</vt:lpstr>
      <vt:lpstr>RESULT</vt:lpstr>
      <vt:lpstr>RESULT</vt:lpstr>
      <vt:lpstr>Advantages</vt:lpstr>
      <vt:lpstr>CHALLENGES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Prajwal Dana</cp:lastModifiedBy>
  <cp:revision>6</cp:revision>
  <dcterms:created xsi:type="dcterms:W3CDTF">2013-01-27T09:14:16Z</dcterms:created>
  <dcterms:modified xsi:type="dcterms:W3CDTF">2025-08-10T13:13:16Z</dcterms:modified>
  <cp:category/>
</cp:coreProperties>
</file>